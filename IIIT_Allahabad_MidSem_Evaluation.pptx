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Selective Model-Impact and Temporal State-Change Gating</a:t>
            </a: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for Clustered Federated Learning under Data Drift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Mid-Semester Project Evaluation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Devansh Rai (IIB2024006)</a:t>
            </a:r>
          </a:p>
          <a:p>
            <a:pPr>
              <a:defRPr sz="2000"/>
            </a:pPr>
            <a:r>
              <a:t>Prince Raj (IIT2024232)</a:t>
            </a:r>
          </a:p>
          <a:p>
            <a:pPr>
              <a:defRPr sz="2000"/>
            </a:pPr>
            <a:r>
              <a:t>Rishit Balaji (IIT2024242)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Department of Information Technology</a:t>
            </a:r>
          </a:p>
          <a:p>
            <a:pPr>
              <a:defRPr sz="2000"/>
            </a:pPr>
            <a:r>
              <a:t>Indian Institute of Information Technology, Allahabad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Motivation &amp;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Federated Learning (FL):</a:t>
            </a:r>
          </a:p>
          <a:p>
            <a:pPr lvl="1">
              <a:defRPr sz="1600">
                <a:latin typeface="Arial"/>
              </a:defRPr>
            </a:pPr>
            <a:r>
              <a:t>Clients collaboratively train models without sharing raw data (non-IID and heterogeneous).</a:t>
            </a:r>
          </a:p>
          <a:p>
            <a:pPr>
              <a:defRPr sz="1800">
                <a:latin typeface="Arial"/>
              </a:defRPr>
            </a:pPr>
            <a:r>
              <a:t>Clustered Federated Learning (CFL):</a:t>
            </a:r>
          </a:p>
          <a:p>
            <a:pPr lvl="1">
              <a:defRPr sz="1600">
                <a:latin typeface="Arial"/>
              </a:defRPr>
            </a:pPr>
            <a:r>
              <a:t>Clients grouped into similar clusters; each gets a specialized model.</a:t>
            </a:r>
          </a:p>
          <a:p>
            <a:pPr>
              <a:defRPr sz="1800">
                <a:latin typeface="Arial"/>
              </a:defRPr>
            </a:pPr>
            <a:r>
              <a:t>The Problem (Streaming Data Drift):</a:t>
            </a:r>
          </a:p>
          <a:p>
            <a:pPr lvl="1">
              <a:defRPr sz="1600">
                <a:latin typeface="Arial"/>
              </a:defRPr>
            </a:pPr>
            <a:r>
              <a:t>Client data distributions change over time, gradually destroying cluster homogeneity.</a:t>
            </a:r>
          </a:p>
          <a:p>
            <a:pPr lvl="1">
              <a:defRPr sz="1600">
                <a:latin typeface="Arial"/>
              </a:defRPr>
            </a:pPr>
            <a:r>
              <a:t>FIELDING responds to detected drift by unconditionally re-clustering.</a:t>
            </a:r>
          </a:p>
          <a:p>
            <a:pPr>
              <a:defRPr sz="1800">
                <a:latin typeface="Arial"/>
              </a:defRPr>
            </a:pPr>
            <a:r>
              <a:t>Key Motivation:</a:t>
            </a:r>
          </a:p>
          <a:p>
            <a:pPr lvl="1">
              <a:defRPr sz="1600">
                <a:latin typeface="Arial"/>
              </a:defRPr>
            </a:pPr>
            <a:r>
              <a:t>"Distribution drift does not necessarily mean model-performance degradation."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Heterogeneous Clients  →  Clustered FL  →  Data Drift  →  Homogeneity Degrades  →  Adaptive Re-Clustering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Features / Evaluation Focus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FedAvg (McMahan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 distributed optimization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IFCA (Ghosh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 K CFL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Loss-based static clustering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FedProx (Li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Proximal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Stability under heterogeneity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FlexCFL (Duan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 K CFL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Parameter-based dynamic grouping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FedDrift (Jothimurugesan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Global re-cluster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communication cost local-loss eval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FIELDING (Li et al.) [BASE PAPER]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Hybrid CFL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FMoW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L1 label drift, adaptive AIMD threshold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Research Gaps &amp; Base Paper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03366"/>
                </a:solidFill>
              </a:defRPr>
            </a:pPr>
            <a:r>
              <a:t>Base Paper: FIELDING Logic</a:t>
            </a:r>
          </a:p>
          <a:p>
            <a:pPr lvl="1">
              <a:defRPr sz="1600">
                <a:latin typeface="Arial"/>
              </a:defRPr>
            </a:pPr>
            <a:r>
              <a:t>Data Drift Detected</a:t>
            </a:r>
            <a:br/>
            <a:r>
              <a:t>          ↓</a:t>
            </a:r>
          </a:p>
          <a:p>
            <a:pPr lvl="1">
              <a:defRPr sz="1600">
                <a:latin typeface="Arial"/>
              </a:defRPr>
            </a:pPr>
            <a:r>
              <a:t>Re-Clustering Triggered</a:t>
            </a:r>
            <a:br/>
            <a:r>
              <a:t>          ↓</a:t>
            </a:r>
          </a:p>
          <a:p>
            <a:pPr lvl="1">
              <a:defRPr sz="1600">
                <a:latin typeface="Arial"/>
              </a:defRPr>
            </a:pPr>
            <a:r>
              <a:t>Cluster Models Re-Initialized via Averaging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03366"/>
                </a:solidFill>
              </a:defRPr>
            </a:pPr>
            <a:r>
              <a:t>Research Gaps Identified</a:t>
            </a:r>
          </a:p>
          <a:p>
            <a:pPr>
              <a:defRPr sz="1800">
                <a:latin typeface="Arial"/>
              </a:defRPr>
            </a:pPr>
            <a:r>
              <a:t>1. Benign-Drift Over-Reaction</a:t>
            </a:r>
          </a:p>
          <a:p>
            <a:pPr lvl="1">
              <a:defRPr sz="1600">
                <a:latin typeface="Arial"/>
              </a:defRPr>
            </a:pPr>
            <a:r>
              <a:t>A distribution shift may not reduce actual model accuracy.</a:t>
            </a:r>
          </a:p>
          <a:p>
            <a:pPr>
              <a:defRPr sz="1800">
                <a:latin typeface="Arial"/>
              </a:defRPr>
            </a:pPr>
            <a:r>
              <a:t>2. Single-Round Evaluation Noise</a:t>
            </a:r>
          </a:p>
          <a:p>
            <a:pPr lvl="1">
              <a:defRPr sz="1600">
                <a:latin typeface="Arial"/>
              </a:defRPr>
            </a:pPr>
            <a:r>
              <a:t>One-round accuracy drops are often transient.</a:t>
            </a:r>
          </a:p>
          <a:p>
            <a:pPr>
              <a:defRPr sz="1800">
                <a:latin typeface="Arial"/>
              </a:defRPr>
            </a:pPr>
            <a:r>
              <a:t>3. State Blindness</a:t>
            </a:r>
          </a:p>
          <a:p>
            <a:pPr lvl="1">
              <a:defRPr sz="1600">
                <a:latin typeface="Arial"/>
              </a:defRPr>
            </a:pPr>
            <a:r>
              <a:t>No comparison against a client's own historical drift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2200"/>
            </a:pPr>
            <a:r>
              <a:t>Research Question: Can re-clustering be triggered selectively using evidence of genuine and sustained model impact?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t>Problem Statement:</a:t>
            </a:r>
          </a:p>
          <a:p>
            <a:pPr lvl="1">
              <a:defRPr sz="1600">
                <a:latin typeface="Arial"/>
              </a:defRPr>
            </a:pPr>
            <a:r>
              <a:t>FIELDING treats every detected drift event as actionable, which causes excessive re-clustering and severe 'cluster churn' under shorter, dynamic training horizons.</a:t>
            </a:r>
          </a:p>
          <a:p>
            <a:br/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t>Project Objectives:</a:t>
            </a:r>
          </a:p>
          <a:p>
            <a:pPr lvl="1">
              <a:defRPr sz="1600">
                <a:latin typeface="Arial"/>
              </a:defRPr>
            </a:pPr>
            <a:r>
              <a:t>1. Reproduce FIELDING: Run the baseline on FMoW (FedScale) and verify the published accuracy range.</a:t>
            </a:r>
          </a:p>
          <a:p>
            <a:pPr lvl="1">
              <a:defRPr sz="1600">
                <a:latin typeface="Arial"/>
              </a:defRPr>
            </a:pPr>
            <a:r>
              <a:t>2. Design Selective Gating: Implement a three-stage mechanism (Impact + Smoothing + Temporal State).</a:t>
            </a:r>
          </a:p>
          <a:p>
            <a:pPr lvl="1">
              <a:defRPr sz="1600">
                <a:latin typeface="Arial"/>
              </a:defRPr>
            </a:pPr>
            <a:r>
              <a:t>3. Counterfactual Evaluation: Evaluate avoided re-clustering telemetry over multiple simulation phases.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Proposed Methodology: The Selective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FIELDING Baseline:</a:t>
            </a:r>
            <a:br/>
            <a:r>
              <a:t>Data Drift → Re-cluster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PROPOSED:</a:t>
            </a:r>
            <a:br/>
            <a:r>
              <a:t>Data Drift → Model Impact → Rolling Smoothing → Temporal State → Conditional Re-cluster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Stage 1:</a:t>
            </a:r>
          </a:p>
          <a:p>
            <a:pPr>
              <a:defRPr sz="1600"/>
            </a:pPr>
            <a:r>
              <a:t>Model-Impact Gate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Measure Top-1 accuracy degradation.</a:t>
            </a:r>
          </a:p>
          <a:p>
            <a:pPr>
              <a:defRPr sz="1600"/>
            </a:pPr>
            <a:r>
              <a:t>• Threshold τ_impact = 0.05 (5% drop required).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74320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Stage 2:</a:t>
            </a:r>
          </a:p>
          <a:p>
            <a:pPr>
              <a:defRPr sz="1600"/>
            </a:pPr>
            <a:r>
              <a:t>Rolling-Window Smoothing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Window W = 3.</a:t>
            </a:r>
          </a:p>
          <a:p>
            <a:pPr>
              <a:defRPr sz="1600"/>
            </a:pPr>
            <a:r>
              <a:t>• Averages contiguous history to filter out transient one-round dips.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74320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Stage 3:</a:t>
            </a:r>
          </a:p>
          <a:p>
            <a:pPr>
              <a:defRPr sz="1600"/>
            </a:pPr>
            <a:r>
              <a:t>Temporal ε-Gate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Builds client state vector [D_L, D_X, D_C, M, V, P].</a:t>
            </a:r>
          </a:p>
          <a:p>
            <a:pPr>
              <a:defRPr sz="1600"/>
            </a:pPr>
            <a:r>
              <a:t>• Adaptive ε threshold based on 95th-percentile state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Final Rule: Re-cluster ⇔ (Smoothed Impact ≥ 5%) AND (Temporal State Change &gt; 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Baseline Replication &amp; 500-Round Stress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Section A: 2000-Round Replication</a:t>
            </a:r>
          </a:p>
          <a:p>
            <a:pPr lvl="1">
              <a:defRPr sz="1600">
                <a:latin typeface="Arial"/>
              </a:defRPr>
            </a:pPr>
            <a:r>
              <a:t>Dataset: FMoW</a:t>
            </a:r>
          </a:p>
          <a:p>
            <a:pPr lvl="1">
              <a:defRPr sz="1600">
                <a:latin typeface="Arial"/>
              </a:defRPr>
            </a:pPr>
            <a:r>
              <a:t>Framework: FedScale (ResNet-18, FedProx)</a:t>
            </a:r>
          </a:p>
          <a:p>
            <a:pPr lvl="1">
              <a:defRPr sz="1600">
                <a:latin typeface="Arial"/>
              </a:defRPr>
            </a:pPr>
            <a:r>
              <a:t>Full-scale run: 2000 rounds</a:t>
            </a:r>
          </a:p>
          <a:p>
            <a:pPr lvl="1">
              <a:defRPr sz="1600">
                <a:latin typeface="Arial"/>
              </a:defRPr>
            </a:pPr>
            <a:r>
              <a:t>Final recorded Top-1 accuracy: 59.38%</a:t>
            </a:r>
          </a:p>
          <a:p>
            <a:pPr lvl="1">
              <a:defRPr sz="1600">
                <a:latin typeface="Arial"/>
              </a:defRPr>
            </a:pPr>
            <a:r>
              <a:t>Result was fully consistent with the published FIELDING accuracy levels.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Section B: 500-Round Stress Test</a:t>
            </a:r>
          </a:p>
          <a:p>
            <a:pPr lvl="1">
              <a:defRPr sz="1600">
                <a:latin typeface="Arial"/>
              </a:defRPr>
            </a:pPr>
            <a:r>
              <a:t>Global / unclustered model climbed to ≈ 38%.</a:t>
            </a:r>
          </a:p>
          <a:p>
            <a:pPr lvl="1">
              <a:defRPr sz="1600">
                <a:latin typeface="Arial"/>
              </a:defRPr>
            </a:pPr>
            <a:r>
              <a:t>Specialized clusters collapsed to 2–15%.</a:t>
            </a:r>
          </a:p>
          <a:p>
            <a:pPr lvl="1">
              <a:defRPr sz="1600">
                <a:latin typeface="Arial"/>
              </a:defRPr>
            </a:pPr>
            <a:r>
              <a:t>Reason: Shorter dynamic horizon triggered constant unconditional cluster churn.</a:t>
            </a:r>
          </a:p>
          <a:p>
            <a:br/>
            <a:pPr>
              <a:defRPr b="1" sz="1800">
                <a:solidFill>
                  <a:srgbClr val="B40000"/>
                </a:solidFill>
              </a:defRPr>
            </a:pPr>
            <a:r>
              <a:t>Core failure exposed: frequent unconditional re-clustering prevents cluster models from converging.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Experimental Results &amp; Counterfactuals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94760"/>
                <a:gridCol w="3794760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Experimental Phase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Specialized Cluster 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Re-Clustering Frequency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Unmodified FIELDING (Stress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 – 15% (Collapse)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249 / 249 (100%)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Phase II: Model-Impact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45 – 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52 / 249 (20.8%)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Phase III: Impact + Smoothing (W=3)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43 – 61% (Most Stable)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13 / 249 (94.78% reduction)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Phase IV: Full Pipeline (+ ε-Gate)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40 – 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114 / 249 (45.7%)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*Note: Phase III and Phase IV represent separate 500-round simulated telemetry runs. Because decisions change the accuracy trajectory directly, they are not a strict seed-controlled paired ablation.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Key Findings,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Key Findings</a:t>
            </a:r>
          </a:p>
          <a:p>
            <a:pPr lvl="1">
              <a:defRPr sz="1600">
                <a:latin typeface="Arial"/>
              </a:defRPr>
            </a:pPr>
            <a:r>
              <a:t>Model-impact gating substantially rescues specialized-cluster performance.</a:t>
            </a:r>
          </a:p>
          <a:p>
            <a:pPr lvl="1">
              <a:defRPr sz="1600">
                <a:latin typeface="Arial"/>
              </a:defRPr>
            </a:pPr>
            <a:r>
              <a:t>Rolling-window smoothing drastically reduces false triggers (249 → 13 events).</a:t>
            </a:r>
          </a:p>
          <a:p>
            <a:pPr lvl="1">
              <a:defRPr sz="1600">
                <a:latin typeface="Arial"/>
              </a:defRPr>
            </a:pPr>
            <a:r>
              <a:t>Temporal ε-gate avoided 0 additional re-clusterings in the Phase IV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Limitations</a:t>
            </a:r>
          </a:p>
          <a:p>
            <a:pPr lvl="1">
              <a:defRPr sz="1600">
                <a:latin typeface="Arial"/>
              </a:defRPr>
            </a:pPr>
            <a:r>
              <a:t>Feature (D_X) and Context (D_C) drifts are currently zero-valued placeholders.</a:t>
            </a:r>
          </a:p>
          <a:p>
            <a:pPr lvl="1">
              <a:defRPr sz="1600">
                <a:latin typeface="Arial"/>
              </a:defRPr>
            </a:pPr>
            <a:r>
              <a:t>Phase III/IV are separate runs, not paired ablations.</a:t>
            </a:r>
          </a:p>
          <a:p>
            <a:pPr lvl="1">
              <a:defRPr sz="1600">
                <a:latin typeface="Arial"/>
              </a:defRPr>
            </a:pPr>
            <a:r>
              <a:t>Most ε-gate evaluations were still trapped in the 50-round warm-up.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Future Work</a:t>
            </a:r>
          </a:p>
          <a:p>
            <a:pPr lvl="1">
              <a:defRPr sz="1600">
                <a:latin typeface="Arial"/>
              </a:defRPr>
            </a:pPr>
            <a:r>
              <a:t>Activate D_X and D_C vector components.</a:t>
            </a:r>
          </a:p>
          <a:p>
            <a:pPr lvl="1">
              <a:defRPr sz="1600">
                <a:latin typeface="Arial"/>
              </a:defRPr>
            </a:pPr>
            <a:r>
              <a:t>Trace why ε-gate offered zero incremental filtering.</a:t>
            </a:r>
          </a:p>
          <a:p>
            <a:pPr lvl="1">
              <a:defRPr sz="1600">
                <a:latin typeface="Arial"/>
              </a:defRPr>
            </a:pPr>
            <a:r>
              <a:t>Run seed-controlled ablations over longer horizons.</a:t>
            </a:r>
          </a:p>
          <a:p>
            <a:pPr lvl="1">
              <a:defRPr sz="1600">
                <a:latin typeface="Arial"/>
              </a:defRPr>
            </a:pPr>
            <a:r>
              <a:t>Evaluate on Cityscapes or Waymo Open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t>Conclusion &amp; 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Conclusion</a:t>
            </a:r>
          </a:p>
          <a:p>
            <a:pPr lvl="1">
              <a:defRPr sz="1600">
                <a:latin typeface="Arial"/>
              </a:defRPr>
            </a:pPr>
            <a:r>
              <a:t>1. FIELDING successfully reproduced; short-horizon testing exposed severe cluster churn.</a:t>
            </a:r>
          </a:p>
          <a:p>
            <a:pPr lvl="1">
              <a:defRPr sz="1600">
                <a:latin typeface="Arial"/>
              </a:defRPr>
            </a:pPr>
            <a:r>
              <a:t>2. Selective model-impact gating and temporal smoothing substantially reduced unnecessary re-clustering and structurally improved cluster accuracy.</a:t>
            </a:r>
          </a:p>
          <a:p>
            <a:pPr lvl="1">
              <a:defRPr sz="1600">
                <a:latin typeface="Arial"/>
              </a:defRPr>
            </a:pPr>
            <a:r>
              <a:t>3. The incremental value of the Temporal ε-Gate remains an open research question requiring controlled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Key References</a:t>
            </a:r>
          </a:p>
          <a:p>
            <a:pPr>
              <a:defRPr sz="1100">
                <a:latin typeface="Arial"/>
              </a:defRPr>
            </a:pPr>
            <a:r>
              <a:t>[1] B. McMahan et al., "Communication-Efficient Learning of Deep Networks from Decentralized Data," AISTATS, 2017.</a:t>
            </a:r>
          </a:p>
          <a:p>
            <a:pPr>
              <a:defRPr sz="1100">
                <a:latin typeface="Arial"/>
              </a:defRPr>
            </a:pPr>
            <a:r>
              <a:t>[2] A. Ghosh et al., "An Efficient Framework for Clustered Federated Learning," NeurIPS, 2020.</a:t>
            </a:r>
          </a:p>
          <a:p>
            <a:pPr>
              <a:defRPr sz="1100">
                <a:latin typeface="Arial"/>
              </a:defRPr>
            </a:pPr>
            <a:r>
              <a:t>[3] T. Li et al., "Federated Optimization in Heterogeneous Networks," MLSys, 2020.</a:t>
            </a:r>
          </a:p>
          <a:p>
            <a:pPr>
              <a:defRPr sz="1100">
                <a:latin typeface="Arial"/>
              </a:defRPr>
            </a:pPr>
            <a:r>
              <a:t>[4] M. Duan et al., "Flexible Clustered Federated Learning for Client-Level Data Distribution Shift," IEEE TPDS, 2021.</a:t>
            </a:r>
          </a:p>
          <a:p>
            <a:pPr>
              <a:defRPr sz="1100">
                <a:latin typeface="Arial"/>
              </a:defRPr>
            </a:pPr>
            <a:r>
              <a:t>[5] F. Lai et al., "FedScale: Benchmarking Model and System Performance of Federated Learning at Scale," ICML, 2022.</a:t>
            </a:r>
          </a:p>
          <a:p>
            <a:pPr>
              <a:defRPr sz="1100">
                <a:latin typeface="Arial"/>
              </a:defRPr>
            </a:pPr>
            <a:r>
              <a:t>[6] J. Liu et al., "Auxo: Efficient Federated Learning via Scalable Client Clustering," SoCC, 2023.</a:t>
            </a:r>
          </a:p>
          <a:p>
            <a:pPr>
              <a:defRPr sz="1100">
                <a:latin typeface="Arial"/>
              </a:defRPr>
            </a:pPr>
            <a:r>
              <a:t>[7] E. Jothimurugesan et al., "Federated Learning under Distributed Concept Drift," AISTATS, 2023.</a:t>
            </a:r>
          </a:p>
          <a:p>
            <a:pPr>
              <a:defRPr sz="1100">
                <a:latin typeface="Arial"/>
              </a:defRPr>
            </a:pPr>
            <a:r>
              <a:t>[8] Y. Zhang et al., "FedAC: An Adaptive Clustered Federated Learning Framework..." arXiv:2403.16460, 2024.</a:t>
            </a:r>
          </a:p>
          <a:p>
            <a:pPr>
              <a:defRPr sz="1100">
                <a:latin typeface="Arial"/>
              </a:defRPr>
            </a:pPr>
            <a:r>
              <a:t>[9] M. Li et al., "FIELDING: Clustered Federated Learning with Data Drift," arXiv:2411.01580, 2024. [Base Paper]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IIIT Allahabad | Mid-Semester Project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